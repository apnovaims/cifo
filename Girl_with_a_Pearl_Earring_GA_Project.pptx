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0" r:id="rId2"/>
    <p:sldId id="279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69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01584" y="1068324"/>
            <a:ext cx="3547872" cy="4675632"/>
          </a:xfrm>
          <a:prstGeom prst="rect">
            <a:avLst/>
          </a:prstGeom>
          <a:solidFill>
            <a:srgbClr val="C2922E"/>
          </a:solidFill>
          <a:ln/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build/assets/portrait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150620"/>
            <a:ext cx="3383280" cy="4511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01584" y="58079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VERMEER, c. 1665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INTELLIGENCE FOR OPTIMIZATION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2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Girl with a Pearl Earring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reconstruction with 100 semi-transparent triangles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8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Genetic Algorithm study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2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1000-D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search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546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2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 72 → 20.3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15468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reconstruction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2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seeds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53212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validated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5806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CIFO 2025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561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and how we attacked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6765" y="1325880"/>
            <a:ext cx="4206240" cy="457200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" cy="45720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Vermeer's portrait with 100 colored triangles, minimising pixel-wise RMSE.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triangle is drawn in fixed z-order with alpha blending. </a:t>
            </a:r>
            <a:r>
              <a:rPr lang="en-US" sz="135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gene change affects every layer above.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space has no independent sub-problems and resists greedy methods.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population-based GA, tuned and validated empirically.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7492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783080"/>
            <a:ext cx="384048" cy="384048"/>
          </a:xfrm>
          <a:prstGeom prst="ellipse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6984" y="1746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&amp; fitness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74920" y="2862072"/>
            <a:ext cx="384048" cy="384048"/>
          </a:xfrm>
          <a:prstGeom prst="ellipse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86984" y="28254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diversity diagnostic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74920" y="3941064"/>
            <a:ext cx="384048" cy="384048"/>
          </a:xfrm>
          <a:prstGeom prst="ellipse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6984" y="39044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9 parameter sweeps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74920" y="5020056"/>
            <a:ext cx="384048" cy="384048"/>
          </a:xfrm>
          <a:prstGeom prst="ellipse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86984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joint tuning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41080" y="1783080"/>
            <a:ext cx="384048" cy="384048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4108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3144" y="1746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operators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641080" y="2862072"/>
            <a:ext cx="384048" cy="384048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53144" y="28254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vs SA (Challenge 2)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641080" y="3941064"/>
            <a:ext cx="384048" cy="384048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10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53144" y="39044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641080" y="5020056"/>
            <a:ext cx="384048" cy="384048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4108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53144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 convergence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1491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&amp; fitness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233172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8580" cy="233172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triangles × 10 genes = </a:t>
            </a:r>
            <a:r>
              <a:rPr lang="en-US" sz="150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1000-D integer genome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coords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x,y ∈ [0,300]×[0,400]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384048" cy="384048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624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color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[0,255]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099816"/>
            <a:ext cx="384048" cy="384048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099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[20,180] at init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457200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68580" cy="91440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pixel-wise RMSE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is better). </a:t>
            </a: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start ≈ 72.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4572000" cy="13258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68580" cy="1325880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138928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for everything that follows: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alpha-blending makes the landscape epistatic, a triangle's contribution depends on every layer above it, so the schema theorem only partially holds.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83730" y="1371600"/>
            <a:ext cx="32232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build/assets/portrait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730" y="1371600"/>
            <a:ext cx="3223260" cy="42976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32120" y="580644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Target; 400×300 RGB; Porter-Duff Over compositing; z-order baked in (triangle 0 bottom → 99 top)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953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OPERATORS; 1 /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00400" cy="457200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" cy="45720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selection, used throughout: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individuals at random (the lowest RMSE wins).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the selection-pressure knob (larger k favours the current best).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later prefers k = 6 (the dynamic schedule anneals it 2 → 5).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23360" y="1417320"/>
            <a:ext cx="76352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build/assets/svg_png/selection_tourna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018" y="1837944"/>
            <a:ext cx="4839924" cy="1600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33088" y="1490472"/>
            <a:ext cx="74157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(used)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3794760"/>
            <a:ext cx="76352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build/assets/svg_png/selection_fitness_proportionate_rou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633" y="4215384"/>
            <a:ext cx="4478694" cy="1645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33088" y="3867912"/>
            <a:ext cx="74157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Fitness-proportionate roulette (alternative)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8923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OPERATORS; 2 /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Crossover - always at triangle level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cut on 10-gene boundaries, so a triangle's shape + colour + alpha are never split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</a:t>
            </a:r>
            <a:endParaRPr lang="en-US" sz="1600" dirty="0"/>
          </a:p>
        </p:txBody>
      </p:sp>
      <p:pic>
        <p:nvPicPr>
          <p:cNvPr id="7" name="Image 0" descr="/home/claude/build/assets/svg_png/crossover_uniform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1193"/>
            <a:ext cx="3337560" cy="18898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617720"/>
            <a:ext cx="33924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from either parent (50/50)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7408" y="1783080"/>
            <a:ext cx="36118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17136" y="1874520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Single-point</a:t>
            </a:r>
            <a:endParaRPr lang="en-US" sz="1600" dirty="0"/>
          </a:p>
        </p:txBody>
      </p:sp>
      <p:pic>
        <p:nvPicPr>
          <p:cNvPr id="11" name="Image 1" descr="/home/claude/build/assets/svg_png/crossover_single_poi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461193"/>
            <a:ext cx="3337560" cy="18898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4617720"/>
            <a:ext cx="33924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half P1, right half P2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66176" y="1783080"/>
            <a:ext cx="36118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375904" y="1874520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</a:t>
            </a:r>
            <a:endParaRPr lang="en-US" sz="1600" dirty="0"/>
          </a:p>
        </p:txBody>
      </p:sp>
      <p:pic>
        <p:nvPicPr>
          <p:cNvPr id="15" name="Image 2" descr="/home/claude/build/assets/svg_png/crossover_block_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461193"/>
            <a:ext cx="3337560" cy="18898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5904" y="4617720"/>
            <a:ext cx="33924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contiguous block from P1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349240"/>
            <a:ext cx="11109960" cy="8686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48640" y="5349240"/>
            <a:ext cx="68580" cy="86868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77240" y="546811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crossover beat single-point by </a:t>
            </a:r>
            <a:r>
              <a:rPr lang="en-US" sz="135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3.35 RMSE (p &lt; 0.05)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OAT; maximal mixing helps most on this short, collapse-prone budget.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05889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OPERATORS; 3 /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mutations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a single gene a little (for local refinement)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Vertex shift</a:t>
            </a:r>
            <a:endParaRPr lang="en-US" sz="1600" dirty="0"/>
          </a:p>
        </p:txBody>
      </p:sp>
      <p:pic>
        <p:nvPicPr>
          <p:cNvPr id="7" name="Image 0" descr="/home/claude/build/assets/svg_png/mutation_vertex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08685"/>
            <a:ext cx="3282696" cy="12063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983480"/>
            <a:ext cx="33924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corner moves ± step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17136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 shift</a:t>
            </a:r>
            <a:endParaRPr lang="en-US" sz="1600" dirty="0"/>
          </a:p>
        </p:txBody>
      </p:sp>
      <p:pic>
        <p:nvPicPr>
          <p:cNvPr id="11" name="Image 1" descr="/home/claude/build/assets/svg_png/mutation_color_sh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08685"/>
            <a:ext cx="3282696" cy="1206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4983480"/>
            <a:ext cx="33924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R/G/B shifts ± step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66176" y="182880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375904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shift</a:t>
            </a:r>
            <a:endParaRPr lang="en-US" sz="1600" dirty="0"/>
          </a:p>
        </p:txBody>
      </p:sp>
      <p:pic>
        <p:nvPicPr>
          <p:cNvPr id="15" name="Image 2" descr="/home/claude/build/assets/svg_png/mutation_alpha_sh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008685"/>
            <a:ext cx="3282696" cy="12063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5904" y="4983480"/>
            <a:ext cx="33924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changes ± step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rate matters far more than which fine operator is used (see OAT, Experiments C &amp; E).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55780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OPERATORS; 4 /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Disruptive &amp; meta mutations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structural moves (explored more in the Section 8 ablation)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Triangle replace</a:t>
            </a:r>
            <a:endParaRPr lang="en-US" sz="1600" dirty="0"/>
          </a:p>
        </p:txBody>
      </p:sp>
      <p:pic>
        <p:nvPicPr>
          <p:cNvPr id="7" name="Image 0" descr="/home/claude/build/assets/svg_png/mutation_triangle_re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04113"/>
            <a:ext cx="3282696" cy="12063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937760"/>
            <a:ext cx="3392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genes randomised; a whole new triangle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6118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17136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Z-order swap</a:t>
            </a:r>
            <a:endParaRPr lang="en-US" sz="1600" dirty="0"/>
          </a:p>
        </p:txBody>
      </p:sp>
      <p:pic>
        <p:nvPicPr>
          <p:cNvPr id="11" name="Image 1" descr="/home/claude/build/assets/svg_png/mutation_triangle_swap_z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22538"/>
            <a:ext cx="3282696" cy="15695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4937760"/>
            <a:ext cx="3392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triangles trade depth; no gene values change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66176" y="1828800"/>
            <a:ext cx="36118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375904" y="1938528"/>
            <a:ext cx="3392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(meta)</a:t>
            </a:r>
            <a:endParaRPr lang="en-US" sz="1600" dirty="0"/>
          </a:p>
        </p:txBody>
      </p:sp>
      <p:pic>
        <p:nvPicPr>
          <p:cNvPr id="15" name="Image 2" descr="/home/claude/build/assets/svg_png/mutation_random_m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935381"/>
            <a:ext cx="3282696" cy="13438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5904" y="4937760"/>
            <a:ext cx="3392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triangle picks one fine shift at random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 swap is the operator analogue of the inversion operator (it reorders without touching genes).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7112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OPERATORS; 5 /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vs mixed mutation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74024"/>
            <a:ext cx="6903720" cy="4241473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svg_png/geometric_vs_mixed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4024"/>
            <a:ext cx="6903720" cy="42414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463040"/>
            <a:ext cx="3977640" cy="224028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68580" cy="224028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82128" y="160020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“box” σ perturbs all 10 genes together. Shape, colour and alpha coupled to one knob.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80960" y="3840480"/>
            <a:ext cx="3977640" cy="96012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0" y="3840480"/>
            <a:ext cx="68580" cy="96012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82128" y="39502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per-gene-type rules, each with its own spread.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0" y="4956048"/>
            <a:ext cx="3977640" cy="1216152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80960" y="4956048"/>
            <a:ext cx="68580" cy="1216152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82128" y="5065776"/>
            <a:ext cx="3611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geometric in Section 8; but box mutation assumes a </a:t>
            </a:r>
            <a:r>
              <a:rPr lang="en-US" sz="1300" b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landscape</a:t>
            </a: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alpha-blend epistasis violates.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4969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METHODOLOGY; BASELINE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&amp; the diversity problem</a:t>
            </a:r>
            <a:endParaRPr lang="en-US" sz="2900" dirty="0"/>
          </a:p>
        </p:txBody>
      </p:sp>
      <p:pic>
        <p:nvPicPr>
          <p:cNvPr id="4" name="Image 0" descr="/home/claude/build/assets/charts/baselin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572" y="1234440"/>
            <a:ext cx="6268096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11880"/>
            <a:ext cx="41562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build/assets/figures/main_notebook_21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4156228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3657600"/>
            <a:ext cx="5852160" cy="786384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806440" y="3657600"/>
            <a:ext cx="68580" cy="786384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35040" y="369417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28.40 ± 0.72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229600" y="369417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RMSE; 30 seeds × 1000 gens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806440" y="4553712"/>
            <a:ext cx="5852160" cy="786384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06440" y="4553712"/>
            <a:ext cx="68580" cy="786384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35040" y="45902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55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 ~29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229600" y="45902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collapses; in every single seed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806440" y="5449824"/>
            <a:ext cx="5852160" cy="786384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06440" y="5449824"/>
            <a:ext cx="68580" cy="786384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035040" y="54864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2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97%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8229600" y="548640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run spent exploiting a converged population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806440" y="63276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collapse-then-exploit pattern drives every later design choice.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298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METHODOLOGY; STATISTICS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every comparison is judged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6364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8580" cy="9144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best fitness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final RMSE across seeds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68580" cy="9144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779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best fitness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9808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central tendency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68580" cy="9144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803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rate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9808" y="4197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runs below a fixed threshold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68580" cy="91440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64808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 Wilcoxon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64808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seeds (same init for both)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2670048"/>
            <a:ext cx="68580" cy="91440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64808" y="2779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Mann-Whitney U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64808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694176"/>
            <a:ext cx="5394960" cy="9144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3694176"/>
            <a:ext cx="68580" cy="91440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64808" y="3803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Holm correction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64808" y="4197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multiple-comparison error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109960" cy="1325880"/>
          </a:xfrm>
          <a:prstGeom prst="rect">
            <a:avLst/>
          </a:prstGeom>
          <a:solidFill>
            <a:srgbClr val="141B2E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&amp; non-parametric. </a:t>
            </a:r>
            <a:r>
              <a:rPr lang="en-US" sz="140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fixed seeds per configuration. The success threshold;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25.56 (90% of baseline) </a:t>
            </a:r>
            <a:r>
              <a:rPr lang="en-US" sz="140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promotion rule were fixed before seeing results. Values not significantly worse than the best form an </a:t>
            </a:r>
            <a:r>
              <a:rPr lang="en-US" sz="1400" b="1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group</a:t>
            </a:r>
            <a:r>
              <a:rPr lang="en-US" sz="140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are kept.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51924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6; OAT (1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moved the needle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one parameter; 30 seeds × 300 gens; compared against baseline at 300</a:t>
            </a:r>
            <a:endParaRPr lang="en-US" sz="1350" dirty="0"/>
          </a:p>
        </p:txBody>
      </p:sp>
      <p:pic>
        <p:nvPicPr>
          <p:cNvPr id="5" name="Image 0" descr="/home/claude/build/assets/charts/oat_wor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11292840" cy="27747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17720"/>
            <a:ext cx="11109960" cy="160020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68580" cy="16002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73659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help: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gen-29 collapse the GA lives in exploitation; so stronger selection (tournament ↑), always-recombine (xo-prob → 1), larger steps and a higher mutation rate inject the variation that still pays off. All five significantly beat baseline. Population and budget are confounded but point the same way.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5779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→ pop 50; tournament 6; xo-prob 1.0; steps 50/80/50; mut-rate 0.1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6520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6; OAT (2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didn't separate and why</a:t>
            </a:r>
            <a:endParaRPr lang="en-US" sz="2900" dirty="0"/>
          </a:p>
        </p:txBody>
      </p:sp>
      <p:pic>
        <p:nvPicPr>
          <p:cNvPr id="4" name="Image 0" descr="/home/claude/build/assets/charts/oat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39" y="1508760"/>
            <a:ext cx="10344362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663440"/>
            <a:ext cx="11109960" cy="15544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68580" cy="1554480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791456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size, mutation type, and the inverted regime are statistically indistinguishable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population collapses, these barely matter. The lesson is the rate/type split: mutation </a:t>
            </a:r>
            <a:r>
              <a:rPr lang="en-US" sz="1350" b="1" i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matters a lot, mutation </a:t>
            </a:r>
            <a:r>
              <a:rPr lang="en-US" sz="1350" b="1" i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at all (all three identical). Only uniform-vs-single-point crossover separates.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8894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6; OAT (3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9 sweeps to one search box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SEARCH SPACE; 10 PARAMETERS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population_size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 65]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6035040" cy="365760"/>
          </a:xfrm>
          <a:prstGeom prst="rect">
            <a:avLst/>
          </a:prstGeom>
          <a:solidFill>
            <a:srgbClr val="F8F4EC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tournament_size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975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8]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6035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mut_prob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2395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[0.10, 0.20]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6035040" cy="365760"/>
          </a:xfrm>
          <a:prstGeom prst="rect">
            <a:avLst/>
          </a:prstGeom>
          <a:solidFill>
            <a:srgbClr val="F8F4EC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816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xo_prob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31920" y="28163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[0.90, 1.30]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6035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elite_size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31920" y="32369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5]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035040" cy="365760"/>
          </a:xfrm>
          <a:prstGeom prst="rect">
            <a:avLst/>
          </a:prstGeom>
          <a:solidFill>
            <a:srgbClr val="F8F4EC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crossover_type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3192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{uniform, single-pt}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6035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4078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mutation_type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4078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{vertex, replace, random}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498848"/>
            <a:ext cx="6035040" cy="365760"/>
          </a:xfrm>
          <a:prstGeom prst="rect">
            <a:avLst/>
          </a:prstGeom>
          <a:solidFill>
            <a:srgbClr val="F8F4EC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4498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vertex_step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44988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 65]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919472"/>
            <a:ext cx="6035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color_step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931920" y="4919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[80, 104]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340096"/>
            <a:ext cx="6035040" cy="365760"/>
          </a:xfrm>
          <a:prstGeom prst="rect">
            <a:avLst/>
          </a:prstGeom>
          <a:solidFill>
            <a:srgbClr val="F8F4EC"/>
          </a:solidFill>
          <a:ln w="6350">
            <a:solidFill>
              <a:srgbClr val="E4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" y="5340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alpha_step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931920" y="53400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4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 65]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03720" y="1280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PATTERNS CARRIED FORWARD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903720" y="1627632"/>
            <a:ext cx="4754880" cy="13716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03720" y="1627632"/>
            <a:ext cx="68580" cy="13716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40880" y="1773936"/>
            <a:ext cx="347472" cy="347472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408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Upper-edge optima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498080" y="213969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tournament, xo-prob and steps peaked at the tested edge → ranges extended outward.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03720" y="3108960"/>
            <a:ext cx="4754880" cy="13716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03720" y="3108960"/>
            <a:ext cx="68580" cy="13716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040880" y="3255264"/>
            <a:ext cx="347472" cy="347472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4088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49808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≫ type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7498080" y="362102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rate is decisive; mutation type is a near-random categorical.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03720" y="4590288"/>
            <a:ext cx="4754880" cy="137160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903720" y="4590288"/>
            <a:ext cx="68580" cy="13716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040880" y="4736592"/>
            <a:ext cx="347472" cy="347472"/>
          </a:xfrm>
          <a:prstGeom prst="ellipse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40880" y="4727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498080" y="4718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Inverted regime inconclusive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7498080" y="51023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high-mut / low-xo neither helps nor hurts; no evidence-based target.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075795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 err="1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</a:t>
            </a: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joint Bayesian tuning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trials × 300 gens (1 seed); top-3 revalidated at 30 seeds × 1000 gens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23638" y="1600200"/>
            <a:ext cx="815996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assets/figures/main_notebook_7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638" y="1600200"/>
            <a:ext cx="8159965" cy="2468880"/>
          </a:xfrm>
          <a:prstGeom prst="rect">
            <a:avLst/>
          </a:prstGeom>
        </p:spPr>
      </p:pic>
      <p:pic>
        <p:nvPicPr>
          <p:cNvPr id="7" name="Image 1" descr="/home/claude/build/assets/charts/optuna_prox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97680"/>
            <a:ext cx="4593090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0" y="4251960"/>
            <a:ext cx="5989320" cy="91440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669280" y="4251960"/>
            <a:ext cx="68580" cy="9144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70448" y="437083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27.35 ± 0.57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 1.05 RMSE (3.7%) over baseline and a tighter SD.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669280" y="5285232"/>
            <a:ext cx="5989320" cy="932688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69280" y="5285232"/>
            <a:ext cx="68580" cy="932688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70448" y="537667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30-seed winner had the worst single-seed proxy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single-seed selection is unsafe. Boundary hits (tournament 7 &gt; 6, xo-prob clamped at 1.0); diversity still collapses → Section 8.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6465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8; STRUCTURAL (1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ideas, screened at 300 gens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86736"/>
            <a:ext cx="6812280" cy="313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s8_scre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6736"/>
            <a:ext cx="6812280" cy="31302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463040"/>
            <a:ext cx="4160520" cy="768096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43800" y="1463040"/>
            <a:ext cx="68580" cy="768096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2668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1801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Tie. Override no-op. Theory predicts no gain on an epistatic landscape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2331720"/>
            <a:ext cx="4160520" cy="768096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68580" cy="768096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2668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26680" y="2670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+3.58. Order-10 mutation destroys schemata. Diversity pinned &gt; 1100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3200400"/>
            <a:ext cx="4160520" cy="768096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543800" y="3200400"/>
            <a:ext cx="68580" cy="768096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2668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z-swap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26680" y="3538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Tie. Inversion analogue: reorders layers, no gene change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43800" y="4069080"/>
            <a:ext cx="4160520" cy="768096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43800" y="4069080"/>
            <a:ext cx="68580" cy="768096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2668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fit-sharing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2668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Tie. Penalty fires uniformly on a collapsed population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43800" y="4937760"/>
            <a:ext cx="4160520" cy="768096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543800" y="4937760"/>
            <a:ext cx="68580" cy="768096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26680" y="4983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26680" y="5276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Tie. Exploration phase eats the short 300-gen budget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43800" y="5806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beats Optuna at 300 gens, but a tie is not a failure.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12455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8; STRUCTURAL (2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promoted; and why that's defensible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51751"/>
            <a:ext cx="5852160" cy="264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dynamic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1751"/>
            <a:ext cx="5852160" cy="26400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63440"/>
            <a:ext cx="5852160" cy="15544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68580" cy="155448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773168"/>
            <a:ext cx="5440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promotion rule: </a:t>
            </a: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negative Δ, or a 95% CI lower-bound below 0. Three qualify (swap, fit-sharing, dynamic); the top two by mean: </a:t>
            </a:r>
            <a:r>
              <a:rPr lang="en-US" sz="130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and fitness sharing </a:t>
            </a: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full budget.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463040"/>
            <a:ext cx="5074920" cy="233172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68580" cy="233172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84848" y="1572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a good pick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84848" y="199339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diversity-preservers. The explore→exploit argument </a:t>
            </a:r>
            <a:r>
              <a:rPr lang="en-US" sz="1300" b="1" i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look like ties at a short budget and only separate at a long one, so a 1000-gen re-test is exactly the right discriminator.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3931920"/>
            <a:ext cx="5074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0" y="3931920"/>
            <a:ext cx="68580" cy="228600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84848" y="4041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mechanics (briefly)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84848" y="4407408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sharing: </a:t>
            </a: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f → f / Σ over normalised pairwise distances within σ_share (niching).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schedule: </a:t>
            </a: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anneals mutation 0.15 → 0.03 and tournament 2 → 5 over the run.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70471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8; STRUCTURAL (3 / 3)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Full-budget verdict → FINAL BEST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52092"/>
            <a:ext cx="5760720" cy="307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s8_full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2092"/>
            <a:ext cx="5760720" cy="30794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508760"/>
            <a:ext cx="5166360" cy="141732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92240" y="1508760"/>
            <a:ext cx="68580" cy="1417320"/>
          </a:xfrm>
          <a:prstGeom prst="rect">
            <a:avLst/>
          </a:prstGeom>
          <a:solidFill>
            <a:srgbClr val="4E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93408" y="1627632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4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1000 gens the picture flips.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wins −0.92 [−1.18, −0.65], p &lt; 0.0001 → </a:t>
            </a:r>
            <a:r>
              <a:rPr lang="en-US" sz="135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26.43 ± 0.59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Fitness sharing ties (+0.05, p = 0.72).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92240" y="3063240"/>
            <a:ext cx="5166360" cy="141732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3063240"/>
            <a:ext cx="68580" cy="141732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93408" y="3182112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at 300 gens, decisive at 1000. Diversity-preserving methods sacrifice early fitness and only pay off once the budget is long enough to exploit 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92240" y="4617720"/>
            <a:ext cx="5166360" cy="1280160"/>
          </a:xfrm>
          <a:prstGeom prst="rect">
            <a:avLst/>
          </a:prstGeom>
          <a:solidFill>
            <a:srgbClr val="141B2E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93408" y="4736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93408" y="5074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configuration + dynamic schedule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36675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9; CHALLENGE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 vs Simulated Annealing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63,000-evaluation budget; 30 seeds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50281"/>
            <a:ext cx="6263640" cy="343175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assets/charts/ch2_ga_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0281"/>
            <a:ext cx="6263640" cy="34317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160" y="1691640"/>
            <a:ext cx="4663440" cy="132588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95160" y="1691640"/>
            <a:ext cx="68580" cy="132588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96328" y="1801368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25.12 ± 0.70 (SR 73%)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25.00 ± 4.41 (SR 83%)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p = 0.0606 → no significant mean difference.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95160" y="3154680"/>
            <a:ext cx="4663440" cy="15544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95160" y="3154680"/>
            <a:ext cx="68580" cy="1554480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96328" y="3273552"/>
            <a:ext cx="4297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is variance: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is bimodal and five seeds stalled at RMSE 32-36 while the rest landed low. GA never has a catastrophic run.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995160" y="4846320"/>
            <a:ext cx="46634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995160" y="4846320"/>
            <a:ext cx="68580" cy="105156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96328" y="495604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can win when it works; GA is the reliable choice for a single run.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83029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. Can SA polish the GA endpoint?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73006"/>
            <a:ext cx="5852160" cy="3494869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006"/>
            <a:ext cx="5852160" cy="34948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920240"/>
            <a:ext cx="5029200" cy="155448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1920240"/>
            <a:ext cx="68580" cy="155448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30568" y="2048256"/>
            <a:ext cx="4617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SA evals (~9% of the GA budget) on each converged GA solution. </a:t>
            </a:r>
            <a:r>
              <a:rPr lang="en-US" sz="135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26.4262 vs 26.4278; Δ −0.0016, p = 0.0022: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 but negligible.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29400" y="3611880"/>
            <a:ext cx="5029200" cy="169164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3611880"/>
            <a:ext cx="68580" cy="169164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30568" y="3730752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 seeds: zero improving moves.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 endpoint is already a local optimum with respect to single-gene moves (there is nothing left for local search to find).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61213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11; THE ANSWER WE DEFEND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version (30 independent seeds)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7421"/>
            <a:ext cx="6263640" cy="343175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7421"/>
            <a:ext cx="6263640" cy="34317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1783080"/>
            <a:ext cx="4663440" cy="169164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95160" y="1783080"/>
            <a:ext cx="68580" cy="1691640"/>
          </a:xfrm>
          <a:prstGeom prst="rect">
            <a:avLst/>
          </a:prstGeom>
          <a:solidFill>
            <a:srgbClr val="4E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96328" y="1901952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4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26.18 ± 0.84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30 fresh seeds (100-129) consistent with the 26.43 from Section 8.6.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995160" y="3611880"/>
            <a:ext cx="4663440" cy="1554480"/>
          </a:xfrm>
          <a:prstGeom prst="rect">
            <a:avLst/>
          </a:prstGeom>
          <a:solidFill>
            <a:srgbClr val="F2ECE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995160" y="3611880"/>
            <a:ext cx="68580" cy="155448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96328" y="3730752"/>
            <a:ext cx="4297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baseline: </a:t>
            </a:r>
            <a:r>
              <a:rPr lang="en-US" sz="135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−2.21 [1.83, 2.60], p = 1.8 × 10⁻¹⁰ (≈ 7.8%). Every seed beats the baseline. Best 24.18.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995160" y="5303520"/>
            <a:ext cx="4663440" cy="777240"/>
          </a:xfrm>
          <a:prstGeom prst="rect">
            <a:avLst/>
          </a:prstGeom>
          <a:solidFill>
            <a:srgbClr val="141B2E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96328" y="5303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number we defend</a:t>
            </a:r>
          </a:p>
        </p:txBody>
      </p:sp>
      <p:sp>
        <p:nvSpPr>
          <p:cNvPr id="14" name="Text 1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08829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5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to convergence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91459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figures/run_till_convergence_learning_curve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791459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83480"/>
            <a:ext cx="6858000" cy="1234440"/>
          </a:xfrm>
          <a:prstGeom prst="rect">
            <a:avLst/>
          </a:prstGeom>
          <a:solidFill>
            <a:srgbClr val="F8F4E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68580" cy="1234440"/>
          </a:xfrm>
          <a:prstGeom prst="rect">
            <a:avLst/>
          </a:prstGeom>
          <a:solidFill>
            <a:srgbClr val="2E4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5102352"/>
            <a:ext cx="6446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20,000 gens with early-stop (patience 1000, Δ &lt; 0.05) fires at </a:t>
            </a:r>
            <a:r>
              <a:rPr lang="en-US" sz="1300" b="1" dirty="0">
                <a:solidFill>
                  <a:srgbClr val="2E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15,785 → RMSE 20.32</a:t>
            </a: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single unreplicated observation. The representation has real headroom beyond 1000 gens (the 1000-gen best was 24.47).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67120" y="1490472"/>
            <a:ext cx="3251039" cy="4288536"/>
          </a:xfrm>
          <a:prstGeom prst="rect">
            <a:avLst/>
          </a:prstGeom>
          <a:solidFill>
            <a:srgbClr val="C2922E"/>
          </a:solidFill>
          <a:ln/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build/assets/portraits/conv_re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128" y="1554480"/>
            <a:ext cx="3123023" cy="4160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0" y="5806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 20.32; gen 15,785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88006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2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38912" y="1597292"/>
            <a:ext cx="6345936" cy="32976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uild/assets/charts/mile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7020"/>
            <a:ext cx="6126480" cy="30782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40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28.40 → 26.18 validated → 20.32 ceiling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949440" y="1554480"/>
            <a:ext cx="4709160" cy="1417320"/>
          </a:xfrm>
          <a:prstGeom prst="rect">
            <a:avLst/>
          </a:prstGeom>
          <a:solidFill>
            <a:srgbClr val="20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49440" y="1554480"/>
            <a:ext cx="64008" cy="141732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78040" y="16733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+ schedule did the work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78040" y="20574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Optuna tuning was the biggest controllable gain, the dynamic schedule was decisive, invisible at 300 gens, worth ~1 RMSE at 1000.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49440" y="3081528"/>
            <a:ext cx="4709160" cy="1417320"/>
          </a:xfrm>
          <a:prstGeom prst="rect">
            <a:avLst/>
          </a:prstGeom>
          <a:solidFill>
            <a:srgbClr val="20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0" y="3081528"/>
            <a:ext cx="64008" cy="141732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78040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surprise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78040" y="358444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sharing did nothing (uniform penalty on a collapsed population). Triangle-replace won a tie with no independent justification.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4608576"/>
            <a:ext cx="4709160" cy="1417320"/>
          </a:xfrm>
          <a:prstGeom prst="rect">
            <a:avLst/>
          </a:prstGeom>
          <a:solidFill>
            <a:srgbClr val="20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949440" y="4608576"/>
            <a:ext cx="64008" cy="141732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78040" y="47274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 vs SA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511149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vs occasional brilliance - no significant mean difference (p = 0.0606). GA is the reliable pick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4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GA; Girl with a Pearl Earring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34882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1467681"/>
            <a:ext cx="2980944" cy="3922637"/>
          </a:xfrm>
          <a:prstGeom prst="rect">
            <a:avLst/>
          </a:prstGeom>
          <a:solidFill>
            <a:srgbClr val="C2922E"/>
          </a:solidFill>
          <a:ln/>
          <a:effectLst>
            <a:outerShdw blurRad="1143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build/assets/portraits/conv_r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540833"/>
            <a:ext cx="2834640" cy="3776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4526280"/>
            <a:ext cx="7498080" cy="1188720"/>
          </a:xfrm>
          <a:prstGeom prst="rect">
            <a:avLst/>
          </a:prstGeom>
          <a:solidFill>
            <a:srgbClr val="20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4526280"/>
            <a:ext cx="68580" cy="1188720"/>
          </a:xfrm>
          <a:prstGeom prst="rect">
            <a:avLst/>
          </a:prstGeom>
          <a:solidFill>
            <a:srgbClr val="C2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4645152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300" dirty="0">
                <a:solidFill>
                  <a:srgbClr val="F2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compute-bound (each 30-seed run takes hours); RMSE underweights fine detail like the pearl.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2895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032A5B-A1EC-CE49-89AC-033AA66738E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1fe7503-8949-485a-9c21-90ffbbeda9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2051</Words>
  <Application>Microsoft Office PowerPoint</Application>
  <PresentationFormat>Widescreen</PresentationFormat>
  <Paragraphs>290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Girl with a Pearl Earring — GA Image Reconstruction</dc:title>
  <dc:subject>PptxGenJS Presentation</dc:subject>
  <dc:creator>CIFO Project</dc:creator>
  <cp:lastModifiedBy>Artem Polikarpov</cp:lastModifiedBy>
  <cp:revision>2</cp:revision>
  <dcterms:created xsi:type="dcterms:W3CDTF">2026-06-01T19:13:37Z</dcterms:created>
  <dcterms:modified xsi:type="dcterms:W3CDTF">2026-06-04T18:11:21Z</dcterms:modified>
</cp:coreProperties>
</file>